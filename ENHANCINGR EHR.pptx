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56" r:id="rId5"/>
    <p:sldId id="330" r:id="rId6"/>
    <p:sldId id="338" r:id="rId7"/>
    <p:sldId id="341" r:id="rId8"/>
    <p:sldId id="342" r:id="rId9"/>
    <p:sldId id="257" r:id="rId10"/>
    <p:sldId id="343" r:id="rId11"/>
    <p:sldId id="339" r:id="rId12"/>
    <p:sldId id="344" r:id="rId13"/>
    <p:sldId id="345" r:id="rId14"/>
    <p:sldId id="30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itha Kalaga" initials="MK" lastIdx="1" clrIdx="0">
    <p:extLst>
      <p:ext uri="{19B8F6BF-5375-455C-9EA6-DF929625EA0E}">
        <p15:presenceInfo xmlns:p15="http://schemas.microsoft.com/office/powerpoint/2012/main" userId="S-1-5-21-1482919491-563961984-3114235040-44122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3725" autoAdjust="0"/>
  </p:normalViewPr>
  <p:slideViewPr>
    <p:cSldViewPr snapToGrid="0">
      <p:cViewPr varScale="1">
        <p:scale>
          <a:sx n="113" d="100"/>
          <a:sy n="113" d="100"/>
        </p:scale>
        <p:origin x="39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u="none" strike="noStrike" baseline="0" dirty="0"/>
              <a:t>Total HIPAA Breaches Reported to HSS (500+ records)</a:t>
            </a:r>
            <a:endParaRPr lang="en-US" sz="1800" dirty="0"/>
          </a:p>
        </c:rich>
      </c:tx>
      <c:layout>
        <c:manualLayout>
          <c:xMode val="edge"/>
          <c:yMode val="edge"/>
          <c:x val="4.2256356944101577E-2"/>
          <c:y val="1.5879315203906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2010</c:v>
                </c:pt>
                <c:pt idx="1">
                  <c:v>2015</c:v>
                </c:pt>
                <c:pt idx="2">
                  <c:v>2018</c:v>
                </c:pt>
                <c:pt idx="3">
                  <c:v>2020</c:v>
                </c:pt>
                <c:pt idx="4">
                  <c:v>2022</c:v>
                </c:pt>
                <c:pt idx="5">
                  <c:v>2024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216</c:v>
                </c:pt>
                <c:pt idx="1">
                  <c:v>268</c:v>
                </c:pt>
                <c:pt idx="2">
                  <c:v>371</c:v>
                </c:pt>
                <c:pt idx="3">
                  <c:v>416</c:v>
                </c:pt>
                <c:pt idx="4">
                  <c:v>510</c:v>
                </c:pt>
                <c:pt idx="5">
                  <c:v>566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8-4D88-8BA2-F774711637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372315311"/>
        <c:axId val="1372306575"/>
      </c:barChart>
      <c:catAx>
        <c:axId val="137231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2306575"/>
        <c:crosses val="autoZero"/>
        <c:auto val="1"/>
        <c:lblAlgn val="ctr"/>
        <c:lblOffset val="100"/>
        <c:noMultiLvlLbl val="0"/>
      </c:catAx>
      <c:valAx>
        <c:axId val="1372306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2315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/>
            <a:r>
              <a:rPr lang="en-US" sz="20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B23B9F-B223-42FC-B961-B8BFC75D2259}" type="datetime1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4/13/2026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44951-7827-47D4-8276-7DDE1FA7D85A}" type="slidenum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239" y="1041400"/>
            <a:ext cx="10229521" cy="2387600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ENHANCINGR EHR	SECURITY WITH IMMUTABLE LEDGER DATABASES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3600450"/>
            <a:ext cx="9144000" cy="2451100"/>
          </a:xfrm>
        </p:spPr>
        <p:txBody>
          <a:bodyPr/>
          <a:lstStyle/>
          <a:p>
            <a:r>
              <a:rPr lang="en-US" dirty="0"/>
              <a:t>Mahitha Kalaga</a:t>
            </a:r>
            <a:br>
              <a:rPr lang="en-US" dirty="0"/>
            </a:br>
            <a:r>
              <a:rPr lang="en-US" dirty="0"/>
              <a:t>CPS 592 – Research Topics in Database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2977AD-022B-4286-8371-F9308E382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133" y="4996826"/>
            <a:ext cx="2463800" cy="163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9352-2AB0-4ADD-96B9-AB0FAECB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707"/>
            <a:ext cx="5914937" cy="644978"/>
          </a:xfrm>
        </p:spPr>
        <p:txBody>
          <a:bodyPr>
            <a:noAutofit/>
          </a:bodyPr>
          <a:lstStyle/>
          <a:p>
            <a:r>
              <a:rPr lang="en-US" sz="4400" dirty="0"/>
              <a:t>Research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9AA98-AED4-4FAD-999C-98B64BB9D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926771"/>
            <a:ext cx="5914938" cy="4250191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</p:txBody>
      </p:sp>
      <p:sp>
        <p:nvSpPr>
          <p:cNvPr id="81" name="Date Placeholder 80">
            <a:extLst>
              <a:ext uri="{FF2B5EF4-FFF2-40B4-BE49-F238E27FC236}">
                <a16:creationId xmlns:a16="http://schemas.microsoft.com/office/drawing/2014/main" id="{82960077-7DAA-4543-8719-74137BCB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CCCE07D-3B17-42EC-AE9C-222D1314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067F2-17CB-4182-9F1A-E7A337E8C2B4}"/>
              </a:ext>
            </a:extLst>
          </p:cNvPr>
          <p:cNvSpPr txBox="1"/>
          <p:nvPr/>
        </p:nvSpPr>
        <p:spPr>
          <a:xfrm>
            <a:off x="841287" y="1754642"/>
            <a:ext cx="5722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alpha val="70000"/>
                  </a:schemeClr>
                </a:solidFill>
              </a:rPr>
              <a:t>What is the topic?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000" dirty="0"/>
              <a:t>Can immutable Ledger Databases, Like Amazon QLDB replace traditional RDBMS as the architectural standard for EHR security?</a:t>
            </a:r>
          </a:p>
          <a:p>
            <a:endParaRPr lang="en-US" sz="2400" b="1" dirty="0"/>
          </a:p>
          <a:p>
            <a:r>
              <a:rPr lang="en-US" sz="2000" b="1" dirty="0"/>
              <a:t>Why this topic?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In 2004, the change healthcare ransomware attack compromised 192.7 million records and cost $2.4 billion, the largest healthcare breach in U.S. history.</a:t>
            </a:r>
            <a:endParaRPr lang="en-US" sz="2000" b="1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CBAFF-AC86-4CB0-914F-0897628BA412}"/>
              </a:ext>
            </a:extLst>
          </p:cNvPr>
          <p:cNvSpPr txBox="1"/>
          <p:nvPr/>
        </p:nvSpPr>
        <p:spPr>
          <a:xfrm>
            <a:off x="6756186" y="1754642"/>
            <a:ext cx="514734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Resources used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IEEE Xplore, JAMA Network Open, HHS OCR (hhs.gov), ACM Digital Library, AWS Architecture Blog, PubMed/PMC, IBM Security Reports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Presentation Roadmap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dirty="0"/>
              <a:t>Threat landscape → Why RDBMS fails → Immutable ledger architecture → Real-world cases → Trade-offs → Comparative analysis → Conclusions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34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3182-22EB-43CF-838B-D3595509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88534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The Ransomware Threat in Healthcare</a:t>
            </a:r>
            <a:br>
              <a:rPr lang="en-US" dirty="0"/>
            </a:br>
            <a:r>
              <a:rPr lang="en-US" sz="2200" dirty="0"/>
              <a:t>Why healthcare is the #1 target</a:t>
            </a:r>
            <a:endParaRPr lang="en-US" dirty="0"/>
          </a:p>
        </p:txBody>
      </p:sp>
      <p:graphicFrame>
        <p:nvGraphicFramePr>
          <p:cNvPr id="6" name="Content Placeholder 5" descr="Chart">
            <a:extLst>
              <a:ext uri="{FF2B5EF4-FFF2-40B4-BE49-F238E27FC236}">
                <a16:creationId xmlns:a16="http://schemas.microsoft.com/office/drawing/2014/main" id="{BC8CF11F-379E-4BD6-BFF8-2E1645B2EF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74471"/>
              </p:ext>
            </p:extLst>
          </p:nvPr>
        </p:nvGraphicFramePr>
        <p:xfrm>
          <a:off x="838200" y="1950017"/>
          <a:ext cx="7130141" cy="3998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BF983-B96B-4610-9F94-9B626A8D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BD4D7-D985-4FC0-B4DA-EFF28F39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232D4-3F81-4446-AC5A-E8576F0BF4AA}"/>
              </a:ext>
            </a:extLst>
          </p:cNvPr>
          <p:cNvSpPr txBox="1"/>
          <p:nvPr/>
        </p:nvSpPr>
        <p:spPr>
          <a:xfrm>
            <a:off x="8439150" y="2518312"/>
            <a:ext cx="3086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81% </a:t>
            </a:r>
            <a:r>
              <a:rPr lang="en-US" sz="2000" dirty="0"/>
              <a:t>of 2024 breaches were hacking/IT incidents (up from 4% in 2010)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7030A0"/>
                </a:solidFill>
              </a:rPr>
              <a:t>374 </a:t>
            </a:r>
            <a:r>
              <a:rPr lang="en-US" sz="2000" dirty="0"/>
              <a:t>ransomware attacks on healthcare orgs 2016-2021 42M patient records exposed</a:t>
            </a:r>
          </a:p>
        </p:txBody>
      </p:sp>
    </p:spTree>
    <p:extLst>
      <p:ext uri="{BB962C8B-B14F-4D97-AF65-F5344CB8AC3E}">
        <p14:creationId xmlns:p14="http://schemas.microsoft.com/office/powerpoint/2010/main" val="3302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518F4-D13C-40F3-9843-13BBC3B8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27" y="661674"/>
            <a:ext cx="10515600" cy="723220"/>
          </a:xfrm>
        </p:spPr>
        <p:txBody>
          <a:bodyPr>
            <a:noAutofit/>
          </a:bodyPr>
          <a:lstStyle/>
          <a:p>
            <a:r>
              <a:rPr lang="en-US" sz="4000" dirty="0"/>
              <a:t>Background: Why Traditional Databases Fail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3E194-371F-4D5A-8C83-2CCE5A3D6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2" y="1481328"/>
            <a:ext cx="5084761" cy="530352"/>
          </a:xfrm>
        </p:spPr>
        <p:txBody>
          <a:bodyPr anchor="t" anchorCtr="0">
            <a:normAutofit/>
          </a:bodyPr>
          <a:lstStyle/>
          <a:p>
            <a:r>
              <a:rPr lang="en-US" sz="1800" b="1" dirty="0"/>
              <a:t>How a Database Ransomware Attack 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A94CC-2803-437F-B79F-A5067E280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2" y="2108113"/>
            <a:ext cx="5080794" cy="3446463"/>
          </a:xfrm>
        </p:spPr>
        <p:txBody>
          <a:bodyPr>
            <a:normAutofit lnSpcReduction="10000"/>
          </a:bodyPr>
          <a:lstStyle/>
          <a:p>
            <a:pPr marL="685800" indent="-457200">
              <a:buAutoNum type="arabicPeriod"/>
            </a:pP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Attacker gains access via phishing or stolen credentials.</a:t>
            </a:r>
          </a:p>
          <a:p>
            <a:pPr marL="685800" indent="-457200">
              <a:buAutoNum type="arabicPeriod"/>
            </a:pP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Escalates privileges to admin/root-level database access.</a:t>
            </a:r>
          </a:p>
          <a:p>
            <a:pPr marL="685800" indent="-457200">
              <a:buAutoNum type="arabicPeriod"/>
            </a:pP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Ransomware iterates through DB files and encrypts them in-place.</a:t>
            </a:r>
          </a:p>
          <a:p>
            <a:pPr marL="685800" indent="-457200">
              <a:buAutoNum type="arabicPeriod"/>
            </a:pP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Delete/Update wipes or locks every patient record.</a:t>
            </a:r>
          </a:p>
          <a:p>
            <a:pPr marL="685800" indent="-457200">
              <a:buAutoNum type="arabicPeriod"/>
            </a:pP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Hospital must pay ransom or restore from potentially weeks-old backup.</a:t>
            </a:r>
            <a:endParaRPr lang="en-US" sz="17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59DFC-7CFF-494D-8C86-6FE1749742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19006" y="1468264"/>
            <a:ext cx="5183187" cy="530352"/>
          </a:xfrm>
        </p:spPr>
        <p:txBody>
          <a:bodyPr anchor="t" anchorCtr="0">
            <a:normAutofit/>
          </a:bodyPr>
          <a:lstStyle/>
          <a:p>
            <a:r>
              <a:rPr lang="en-US" sz="1800" b="1" dirty="0"/>
              <a:t>The RDBMS Architectural Flaw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7F57A-AEBE-465C-9EF7-E78B1CDEC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80314" y="2108113"/>
            <a:ext cx="5829299" cy="3446463"/>
          </a:xfrm>
        </p:spPr>
        <p:txBody>
          <a:bodyPr>
            <a:normAutofit lnSpcReduction="10000"/>
          </a:bodyPr>
          <a:lstStyle/>
          <a:p>
            <a:pPr marL="228600" indent="0">
              <a:buNone/>
            </a:pPr>
            <a:r>
              <a:rPr lang="en-US" sz="1600" dirty="0">
                <a:solidFill>
                  <a:schemeClr val="accent1">
                    <a:alpha val="70000"/>
                  </a:schemeClr>
                </a:solidFill>
              </a:rPr>
              <a:t>MUTABLE STORAGE</a:t>
            </a:r>
            <a:br>
              <a:rPr lang="en-US" sz="1600" dirty="0">
                <a:solidFill>
                  <a:schemeClr val="accent1">
                    <a:lumMod val="60000"/>
                    <a:lumOff val="40000"/>
                    <a:alpha val="70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alpha val="70000"/>
                  </a:schemeClr>
                </a:solidFill>
              </a:rPr>
              <a:t>When a record is updated, the old version is permanently overwritten and gone. </a:t>
            </a:r>
          </a:p>
          <a:p>
            <a:pPr marL="228600" indent="0">
              <a:buNone/>
            </a:pPr>
            <a:r>
              <a:rPr lang="en-US" sz="1600" dirty="0">
                <a:solidFill>
                  <a:schemeClr val="accent1">
                    <a:alpha val="70000"/>
                  </a:schemeClr>
                </a:solidFill>
              </a:rPr>
              <a:t>CRUD OPERATIONS</a:t>
            </a:r>
            <a:br>
              <a:rPr lang="en-US" sz="1600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alpha val="70000"/>
                  </a:schemeClr>
                </a:solidFill>
              </a:rPr>
              <a:t>CREATE, READ, UPDATE, DELETE are all available, including to ransomware with stolen admin credentials.</a:t>
            </a:r>
          </a:p>
          <a:p>
            <a:pPr marL="228600" indent="0">
              <a:buNone/>
            </a:pPr>
            <a:r>
              <a:rPr lang="en-US" sz="1600" dirty="0">
                <a:solidFill>
                  <a:schemeClr val="accent1">
                    <a:alpha val="70000"/>
                  </a:schemeClr>
                </a:solidFill>
              </a:rPr>
              <a:t>NO HISTORY BY DEFAULT</a:t>
            </a:r>
            <a:br>
              <a:rPr lang="en-US" sz="1600" dirty="0">
                <a:solidFill>
                  <a:schemeClr val="accent1">
                    <a:alpha val="70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alpha val="70000"/>
                  </a:schemeClr>
                </a:solidFill>
              </a:rPr>
              <a:t>RDMBS keeps only the current state. There is no built-in record of what data looked like before an attack.</a:t>
            </a:r>
          </a:p>
          <a:p>
            <a:pPr marL="228600" indent="0">
              <a:buNone/>
            </a:pPr>
            <a:r>
              <a:rPr lang="en-US" sz="1600" dirty="0">
                <a:solidFill>
                  <a:schemeClr val="accent1">
                    <a:alpha val="70000"/>
                  </a:schemeClr>
                </a:solidFill>
              </a:rPr>
              <a:t>AUDIT LOGS ARE SEPARATE</a:t>
            </a:r>
            <a:br>
              <a:rPr lang="en-US" sz="1600" dirty="0">
                <a:solidFill>
                  <a:schemeClr val="tx1">
                    <a:alpha val="70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alpha val="70000"/>
                  </a:schemeClr>
                </a:solidFill>
              </a:rPr>
              <a:t>Log files are often in the same system, an attacker deletes them to hide their tracks.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D409D-82CA-4A05-9EF1-71EEFF94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57D52-635E-45A8-AB12-6DAF7831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7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0FCC-0BF5-45B2-9CDD-17A4BA18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Immutable Ledger Databases Architecture</a:t>
            </a:r>
            <a:br>
              <a:rPr lang="en-US" dirty="0"/>
            </a:br>
            <a:r>
              <a:rPr lang="en-US" sz="2000" dirty="0"/>
              <a:t>How append-only design defeats ransomware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BAF9D-516C-4AC0-B83C-33BFA6E28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43668"/>
            <a:ext cx="5059678" cy="3763116"/>
          </a:xfrm>
        </p:spPr>
        <p:txBody>
          <a:bodyPr>
            <a:noAutofit/>
          </a:bodyPr>
          <a:lstStyle/>
          <a:p>
            <a:r>
              <a:rPr lang="en-US" dirty="0"/>
              <a:t>Append-only (no delete or overwrite)</a:t>
            </a:r>
          </a:p>
          <a:p>
            <a:r>
              <a:rPr lang="en-US" dirty="0"/>
              <a:t>Full history of all records.</a:t>
            </a:r>
          </a:p>
          <a:p>
            <a:r>
              <a:rPr lang="en-US" dirty="0"/>
              <a:t>Cryptographically linked data.</a:t>
            </a:r>
          </a:p>
          <a:p>
            <a:r>
              <a:rPr lang="en-US" dirty="0"/>
              <a:t>Built-in ransomware resistance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A34E7E-6BB0-4276-9993-7D15DAF830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67199" y="1978492"/>
            <a:ext cx="5637214" cy="530352"/>
          </a:xfrm>
        </p:spPr>
        <p:txBody>
          <a:bodyPr>
            <a:normAutofit/>
          </a:bodyPr>
          <a:lstStyle/>
          <a:p>
            <a:r>
              <a:rPr lang="en-US" dirty="0"/>
              <a:t>Amazon QLDB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AEC234-75AE-4C73-8E75-A426AAC544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0" y="2560320"/>
            <a:ext cx="5637214" cy="3446463"/>
          </a:xfrm>
        </p:spPr>
        <p:txBody>
          <a:bodyPr>
            <a:noAutofit/>
          </a:bodyPr>
          <a:lstStyle/>
          <a:p>
            <a:r>
              <a:rPr lang="en-US" dirty="0"/>
              <a:t>Managed immutable ledger database.</a:t>
            </a:r>
          </a:p>
          <a:p>
            <a:r>
              <a:rPr lang="en-US" dirty="0"/>
              <a:t> (AWS)Tracks all data changes.</a:t>
            </a:r>
          </a:p>
          <a:p>
            <a:r>
              <a:rPr lang="en-US" dirty="0"/>
              <a:t>Verifiable audit history.</a:t>
            </a:r>
          </a:p>
          <a:p>
            <a:r>
              <a:rPr lang="en-US" dirty="0"/>
              <a:t>Supports historical queries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2919092-CCE1-4A58-8E2A-540307E1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67B498-D587-4BC1-B0F3-4316C41A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44FA8E-EE88-44BD-A29C-11B2A758D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684" y="4283551"/>
            <a:ext cx="30861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6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>
            <a:normAutofit/>
          </a:bodyPr>
          <a:lstStyle/>
          <a:p>
            <a:r>
              <a:rPr lang="en-US" sz="4400" dirty="0"/>
              <a:t>Real-World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328110"/>
            <a:ext cx="5257799" cy="3220666"/>
          </a:xfrm>
        </p:spPr>
        <p:txBody>
          <a:bodyPr>
            <a:normAutofit/>
          </a:bodyPr>
          <a:lstStyle/>
          <a:p>
            <a:r>
              <a:rPr lang="en-US" sz="2400" dirty="0"/>
              <a:t>Amazon QLDB (AWS)</a:t>
            </a:r>
          </a:p>
          <a:p>
            <a:r>
              <a:rPr lang="en-US" sz="2400" dirty="0"/>
              <a:t>Team </a:t>
            </a:r>
            <a:r>
              <a:rPr lang="en-US" sz="2400" dirty="0" err="1"/>
              <a:t>fEMR</a:t>
            </a:r>
            <a:r>
              <a:rPr lang="en-US" sz="2400" dirty="0"/>
              <a:t> healthcare system</a:t>
            </a:r>
          </a:p>
          <a:p>
            <a:r>
              <a:rPr lang="en-US" sz="2400" dirty="0"/>
              <a:t>HIPAA-compliant deployments</a:t>
            </a:r>
          </a:p>
          <a:p>
            <a:r>
              <a:rPr lang="en-US" sz="2400" dirty="0"/>
              <a:t>Blockchain-based EHR research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FFBE36B-5CC8-44EE-801B-6159157B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898C30-E58E-4EC9-8A27-DF1822A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6F00C-8C70-478C-AE5F-62452AF2C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8110"/>
            <a:ext cx="5129929" cy="322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>
            <a:normAutofit/>
          </a:bodyPr>
          <a:lstStyle/>
          <a:p>
            <a:r>
              <a:rPr lang="en-US" sz="4400" dirty="0"/>
              <a:t>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1" y="1863089"/>
            <a:ext cx="5232400" cy="3377777"/>
          </a:xfrm>
        </p:spPr>
        <p:txBody>
          <a:bodyPr>
            <a:normAutofit/>
          </a:bodyPr>
          <a:lstStyle/>
          <a:p>
            <a:r>
              <a:rPr lang="en-US" sz="2400" dirty="0"/>
              <a:t>Higher storage usage</a:t>
            </a:r>
          </a:p>
          <a:p>
            <a:r>
              <a:rPr lang="en-US" sz="2400" dirty="0"/>
              <a:t>Slower historical queries</a:t>
            </a:r>
          </a:p>
          <a:p>
            <a:r>
              <a:rPr lang="en-US" sz="2400" dirty="0"/>
              <a:t>Migration complexity</a:t>
            </a:r>
          </a:p>
          <a:p>
            <a:r>
              <a:rPr lang="en-US" sz="2400" dirty="0"/>
              <a:t>Cloud dependency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FFBE36B-5CC8-44EE-801B-6159157B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898C30-E58E-4EC9-8A27-DF1822A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61FD7-CDF6-4708-AE75-2C5C5E31D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867" y="1863089"/>
            <a:ext cx="5215466" cy="337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5648-EC4F-4D61-9453-4E038C03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/>
              <a:t>Comparative Analysis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B13B542-F2C8-4DDB-8199-7150628CC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8595518"/>
              </p:ext>
            </p:extLst>
          </p:nvPr>
        </p:nvGraphicFramePr>
        <p:xfrm>
          <a:off x="1016000" y="2372783"/>
          <a:ext cx="10160000" cy="287425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20830863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0855679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76509432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762540777"/>
                    </a:ext>
                  </a:extLst>
                </a:gridCol>
              </a:tblGrid>
              <a:tr h="63725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RDMBS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Immutable Ledger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915843"/>
                  </a:ext>
                </a:extLst>
              </a:tr>
              <a:tr h="5323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Append-only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264551"/>
                  </a:ext>
                </a:extLst>
              </a:tr>
              <a:tr h="5323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Ransomware 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704028"/>
                  </a:ext>
                </a:extLst>
              </a:tr>
              <a:tr h="5323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Audit trail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Built-in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564177"/>
                  </a:ext>
                </a:extLst>
              </a:tr>
              <a:tr h="5323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Backup 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Instant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840364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3CCFA-9D3B-44D7-8242-579B45317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18D9-DF9D-45C8-A71D-661F2BD2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E9D1E-4436-41B9-A419-35A9B63B2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681037"/>
            <a:ext cx="1430866" cy="143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9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F0B7-A59E-4EA5-A7D9-95FCC09E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AFCE-3619-4E82-BC8F-33A96308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4" y="2092729"/>
            <a:ext cx="5588005" cy="3351338"/>
          </a:xfrm>
        </p:spPr>
        <p:txBody>
          <a:bodyPr>
            <a:normAutofit/>
          </a:bodyPr>
          <a:lstStyle/>
          <a:p>
            <a:r>
              <a:rPr lang="en-US" sz="2400" dirty="0"/>
              <a:t>RDBMS vulnerability is architectural</a:t>
            </a:r>
          </a:p>
          <a:p>
            <a:r>
              <a:rPr lang="en-US" sz="2400" dirty="0"/>
              <a:t>Immutable ledgers prevent data destruction</a:t>
            </a:r>
          </a:p>
          <a:p>
            <a:r>
              <a:rPr lang="en-US" sz="2400" dirty="0"/>
              <a:t>Strong defense against ransomware</a:t>
            </a:r>
          </a:p>
          <a:p>
            <a:r>
              <a:rPr lang="en-US" sz="2400" dirty="0"/>
              <a:t>Security &gt; flexibility in healthcare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CD27-6C58-4F3C-ADA0-93A3A55A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21AF7-9B51-4312-B9A5-72D28C97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9F6B0-BF5C-446E-A28B-C79ECDBC7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667" y="2092729"/>
            <a:ext cx="5240869" cy="3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1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F0B7-A59E-4EA5-A7D9-95FCC09E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Future Work and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AFCE-3619-4E82-BC8F-33A96308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4" y="2092729"/>
            <a:ext cx="5588005" cy="3351338"/>
          </a:xfrm>
        </p:spPr>
        <p:txBody>
          <a:bodyPr>
            <a:normAutofit/>
          </a:bodyPr>
          <a:lstStyle/>
          <a:p>
            <a:r>
              <a:rPr lang="en-US" sz="2400" dirty="0"/>
              <a:t>Hybrid DB systems</a:t>
            </a:r>
          </a:p>
          <a:p>
            <a:r>
              <a:rPr lang="en-US" sz="2400" dirty="0"/>
              <a:t>Performance optimization</a:t>
            </a:r>
          </a:p>
          <a:p>
            <a:r>
              <a:rPr lang="en-US" sz="2400" dirty="0"/>
              <a:t>Wider adoption</a:t>
            </a:r>
          </a:p>
          <a:p>
            <a:r>
              <a:rPr lang="en-US" sz="2400" dirty="0"/>
              <a:t>On-prem solutions (</a:t>
            </a:r>
            <a:r>
              <a:rPr lang="en-US" sz="2400" dirty="0" err="1"/>
              <a:t>immudb</a:t>
            </a:r>
            <a:r>
              <a:rPr lang="en-US" sz="24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CD27-6C58-4F3C-ADA0-93A3A55A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04/2026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21AF7-9B51-4312-B9A5-72D28C97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ECE5E-E9EF-4E52-B231-62E7E6E9EF05}"/>
              </a:ext>
            </a:extLst>
          </p:cNvPr>
          <p:cNvSpPr txBox="1"/>
          <p:nvPr/>
        </p:nvSpPr>
        <p:spPr>
          <a:xfrm>
            <a:off x="5816600" y="2092729"/>
            <a:ext cx="521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 is architectural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Solutions already exist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Adoption is the bottleneck</a:t>
            </a:r>
          </a:p>
        </p:txBody>
      </p:sp>
    </p:spTree>
    <p:extLst>
      <p:ext uri="{BB962C8B-B14F-4D97-AF65-F5344CB8AC3E}">
        <p14:creationId xmlns:p14="http://schemas.microsoft.com/office/powerpoint/2010/main" val="296033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E50F-247A-4628-90BB-62A60E396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6583" y="1409227"/>
            <a:ext cx="3309009" cy="238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A8BE8-DC21-47DE-B6F3-7DC95B43C5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4044" y="3592285"/>
            <a:ext cx="2754086" cy="906236"/>
          </a:xfrm>
        </p:spPr>
        <p:txBody>
          <a:bodyPr/>
          <a:lstStyle/>
          <a:p>
            <a:r>
              <a:rPr lang="en-US" dirty="0"/>
              <a:t>Mahitha Kalaga</a:t>
            </a:r>
          </a:p>
        </p:txBody>
      </p:sp>
    </p:spTree>
    <p:extLst>
      <p:ext uri="{BB962C8B-B14F-4D97-AF65-F5344CB8AC3E}">
        <p14:creationId xmlns:p14="http://schemas.microsoft.com/office/powerpoint/2010/main" val="2693196608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Luminous design</Template>
  <TotalTime>214</TotalTime>
  <Words>523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Next LT Pro</vt:lpstr>
      <vt:lpstr>Calibri</vt:lpstr>
      <vt:lpstr>Sabon Next LT</vt:lpstr>
      <vt:lpstr>Wingdings</vt:lpstr>
      <vt:lpstr>LuminousVTI</vt:lpstr>
      <vt:lpstr>ENHANCINGR EHR SECURITY WITH IMMUTABLE LEDGER DATABASES</vt:lpstr>
      <vt:lpstr>Research Overview</vt:lpstr>
      <vt:lpstr>The Ransomware Threat in Healthcare Why healthcare is the #1 target</vt:lpstr>
      <vt:lpstr>Background: Why Traditional Databases Fail</vt:lpstr>
      <vt:lpstr>Immutable Ledger Databases Architecture How append-only design defeats ransomware</vt:lpstr>
      <vt:lpstr>Real-World Cases</vt:lpstr>
      <vt:lpstr>Trade-Offs</vt:lpstr>
      <vt:lpstr>Comparative Analysis</vt:lpstr>
      <vt:lpstr>Conclusion</vt:lpstr>
      <vt:lpstr>Future Work and Observations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ENHANCINGR EHR SECURITY WITH IMMUTABLE LEDGER DATABASES</dc:title>
  <dc:creator>Mahitha Kalaga</dc:creator>
  <cp:lastModifiedBy>Mahitha Kalaga</cp:lastModifiedBy>
  <cp:revision>14</cp:revision>
  <dcterms:created xsi:type="dcterms:W3CDTF">2026-04-12T15:36:31Z</dcterms:created>
  <dcterms:modified xsi:type="dcterms:W3CDTF">2026-04-13T19:19:35Z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